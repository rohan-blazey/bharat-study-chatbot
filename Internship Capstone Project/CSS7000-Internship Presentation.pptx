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3"/>
  </p:notesMasterIdLst>
  <p:sldIdLst>
    <p:sldId id="259" r:id="rId2"/>
    <p:sldId id="260" r:id="rId3"/>
    <p:sldId id="263" r:id="rId4"/>
    <p:sldId id="265" r:id="rId5"/>
    <p:sldId id="261" r:id="rId6"/>
    <p:sldId id="262" r:id="rId7"/>
    <p:sldId id="270" r:id="rId8"/>
    <p:sldId id="264" r:id="rId9"/>
    <p:sldId id="267" r:id="rId10"/>
    <p:sldId id="268" r:id="rId11"/>
    <p:sldId id="269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2573" autoAdjust="0"/>
    <p:restoredTop sz="94660"/>
  </p:normalViewPr>
  <p:slideViewPr>
    <p:cSldViewPr snapToGrid="0">
      <p:cViewPr varScale="1">
        <p:scale>
          <a:sx n="85" d="100"/>
          <a:sy n="85" d="100"/>
        </p:scale>
        <p:origin x="701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48B91F7-0A31-4809-8E31-54F32ACD1E72}" type="datetimeFigureOut">
              <a:rPr lang="en-GB" smtClean="0"/>
              <a:t>22/08/2026</a:t>
            </a:fld>
            <a:endParaRPr lang="en-GB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D5A70FC-228F-4487-8E14-68CAD584041B}" type="slidenum">
              <a:rPr lang="en-GB" smtClean="0"/>
              <a:t>‹#›</a:t>
            </a:fld>
            <a:endParaRPr lang="en-GB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5" name="Google Shape;85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4" name="Google Shape;94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66083A-C1B7-4B46-82C5-289BB6E6D5A4}" type="datetime1">
              <a:rPr lang="en-IN" smtClean="0"/>
              <a:t>22-08-2026</a:t>
            </a:fld>
            <a:endParaRPr lang="en-IN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2F6845-8F47-4AB8-B9CE-96D88E741707}" type="slidenum">
              <a:rPr lang="en-IN" smtClean="0"/>
              <a:t>‹#›</a:t>
            </a:fld>
            <a:endParaRPr lang="en-IN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en-IN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1009650" cy="365125"/>
          </a:xfrm>
          <a:noFill/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864BFFB7-4443-4602-A990-B076C1CFE86C}" type="datetime1">
              <a:rPr lang="en-IN" smtClean="0"/>
              <a:t>22-08-2026</a:t>
            </a:fld>
            <a:endParaRPr lang="en-IN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F32F6845-8F47-4AB8-B9CE-96D88E741707}" type="slidenum">
              <a:rPr lang="en-IN" smtClean="0"/>
              <a:t>‹#›</a:t>
            </a:fld>
            <a:endParaRPr lang="en-IN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3E8F52-857A-4C89-954C-57943DB51290}" type="datetime1">
              <a:rPr lang="en-IN" smtClean="0"/>
              <a:t>22-08-2026</a:t>
            </a:fld>
            <a:endParaRPr lang="en-IN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2F6845-8F47-4AB8-B9CE-96D88E741707}" type="slidenum">
              <a:rPr lang="en-IN" smtClean="0"/>
              <a:t>‹#›</a:t>
            </a:fld>
            <a:endParaRPr lang="en-IN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BD7B4D-DDD6-4CA2-87A0-9BDD5E5268EC}" type="datetime1">
              <a:rPr lang="en-IN" smtClean="0"/>
              <a:t>22-08-2026</a:t>
            </a:fld>
            <a:endParaRPr lang="en-IN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2F6845-8F47-4AB8-B9CE-96D88E741707}" type="slidenum">
              <a:rPr lang="en-IN" smtClean="0"/>
              <a:t>‹#›</a:t>
            </a:fld>
            <a:endParaRPr lang="en-IN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30D9E5-0635-43A8-8973-488E7408FAF7}" type="datetime1">
              <a:rPr lang="en-IN" smtClean="0"/>
              <a:t>22-08-2026</a:t>
            </a:fld>
            <a:endParaRPr lang="en-IN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2F6845-8F47-4AB8-B9CE-96D88E741707}" type="slidenum">
              <a:rPr lang="en-IN" smtClean="0"/>
              <a:t>‹#›</a:t>
            </a:fld>
            <a:endParaRPr lang="en-IN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D0CEA8-D591-4CC9-939A-A3BE6FD93E89}" type="datetime1">
              <a:rPr lang="en-IN" smtClean="0"/>
              <a:t>22-08-2026</a:t>
            </a:fld>
            <a:endParaRPr lang="en-IN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2F6845-8F47-4AB8-B9CE-96D88E741707}" type="slidenum">
              <a:rPr lang="en-IN" smtClean="0"/>
              <a:t>‹#›</a:t>
            </a:fld>
            <a:endParaRPr lang="en-IN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BE2297-DC8B-48E6-B6D6-34773F9A5984}" type="datetime1">
              <a:rPr lang="en-IN" smtClean="0"/>
              <a:t>22-08-2026</a:t>
            </a:fld>
            <a:endParaRPr lang="en-IN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2F6845-8F47-4AB8-B9CE-96D88E741707}" type="slidenum">
              <a:rPr lang="en-IN" smtClean="0"/>
              <a:t>‹#›</a:t>
            </a:fld>
            <a:endParaRPr lang="en-IN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C2A547-6E4B-4188-9BD5-035CB9C4BCC5}" type="datetime1">
              <a:rPr lang="en-IN" smtClean="0"/>
              <a:t>22-08-2026</a:t>
            </a:fld>
            <a:endParaRPr lang="en-IN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2F6845-8F47-4AB8-B9CE-96D88E741707}" type="slidenum">
              <a:rPr lang="en-IN" smtClean="0"/>
              <a:t>‹#›</a:t>
            </a:fld>
            <a:endParaRPr lang="en-IN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706E29-16A1-4AAE-B55B-4E3DB7265605}" type="datetime1">
              <a:rPr lang="en-IN" smtClean="0"/>
              <a:t>22-08-2026</a:t>
            </a:fld>
            <a:endParaRPr lang="en-IN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2F6845-8F47-4AB8-B9CE-96D88E741707}" type="slidenum">
              <a:rPr lang="en-IN" smtClean="0"/>
              <a:t>‹#›</a:t>
            </a:fld>
            <a:endParaRPr lang="en-IN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C26915-BE00-456E-A9CA-DB9FE1FD674A}" type="datetime1">
              <a:rPr lang="en-IN" smtClean="0"/>
              <a:t>22-08-2026</a:t>
            </a:fld>
            <a:endParaRPr lang="en-IN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2F6845-8F47-4AB8-B9CE-96D88E741707}" type="slidenum">
              <a:rPr lang="en-IN" smtClean="0"/>
              <a:t>‹#›</a:t>
            </a:fld>
            <a:endParaRPr lang="en-IN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A2D233-408A-4415-B919-B7ECAA5043E2}" type="datetime1">
              <a:rPr lang="en-IN" smtClean="0"/>
              <a:t>22-08-2026</a:t>
            </a:fld>
            <a:endParaRPr lang="en-IN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2F6845-8F47-4AB8-B9CE-96D88E741707}" type="slidenum">
              <a:rPr lang="en-IN" smtClean="0"/>
              <a:t>‹#›</a:t>
            </a:fld>
            <a:endParaRPr lang="en-IN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e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EAC608B-7A9F-4336-97A2-89908E443DAD}" type="datetime1">
              <a:rPr lang="en-IN" smtClean="0"/>
              <a:t>22-08-2026</a:t>
            </a:fld>
            <a:endParaRPr lang="en-IN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32F6845-8F47-4AB8-B9CE-96D88E741707}" type="slidenum">
              <a:rPr lang="en-IN" smtClean="0"/>
              <a:t>‹#›</a:t>
            </a:fld>
            <a:endParaRPr lang="en-IN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wmf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3"/>
          <p:cNvSpPr txBox="1"/>
          <p:nvPr/>
        </p:nvSpPr>
        <p:spPr>
          <a:xfrm>
            <a:off x="6525369" y="2109718"/>
            <a:ext cx="5514300" cy="20205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lnSpcReduction="10000"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7365D"/>
              </a:buClr>
              <a:buSzPts val="2000"/>
              <a:buFont typeface="Arial" panose="020B0604020202020204"/>
              <a:buNone/>
            </a:pPr>
            <a:r>
              <a:rPr lang="en-GB" sz="2000" b="1" i="0" u="none" strike="noStrike" cap="none" dirty="0">
                <a:solidFill>
                  <a:srgbClr val="17365D"/>
                </a:solidFill>
                <a:latin typeface="Cambria" panose="02040503050406030204" pitchFamily="18" charset="0"/>
                <a:ea typeface="Cambria" panose="02040503050406030204" pitchFamily="18" charset="0"/>
                <a:cs typeface="Verdana" panose="020B0604030504040204"/>
                <a:sym typeface="Verdana" panose="020B0604030504040204"/>
              </a:rPr>
              <a:t>Under the Supervision of,</a:t>
            </a:r>
            <a:endParaRPr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0" marR="0" lvl="0" indent="0" algn="ctr" rtl="0">
              <a:spcBef>
                <a:spcPts val="400"/>
              </a:spcBef>
              <a:spcAft>
                <a:spcPts val="0"/>
              </a:spcAft>
              <a:buClr>
                <a:srgbClr val="17365D"/>
              </a:buClr>
              <a:buSzPts val="2000"/>
              <a:buFont typeface="Arial" panose="020B0604020202020204"/>
              <a:buNone/>
            </a:pPr>
            <a:endParaRPr sz="2000" b="1" i="0" u="none" strike="noStrike" cap="none" dirty="0">
              <a:solidFill>
                <a:srgbClr val="17365D"/>
              </a:solidFill>
              <a:latin typeface="Cambria" panose="02040503050406030204" pitchFamily="18" charset="0"/>
              <a:ea typeface="Cambria" panose="02040503050406030204" pitchFamily="18" charset="0"/>
              <a:cs typeface="Verdana" panose="020B0604030504040204"/>
              <a:sym typeface="Verdana" panose="020B0604030504040204"/>
            </a:endParaRPr>
          </a:p>
          <a:p>
            <a:pPr marL="0" marR="0" lvl="0" indent="0" algn="l" rtl="0">
              <a:spcBef>
                <a:spcPts val="340"/>
              </a:spcBef>
              <a:spcAft>
                <a:spcPts val="0"/>
              </a:spcAft>
              <a:buClr>
                <a:srgbClr val="17365D"/>
              </a:buClr>
              <a:buSzPts val="1700"/>
              <a:buFont typeface="Arial" panose="020B0604020202020204"/>
              <a:buNone/>
            </a:pPr>
            <a:r>
              <a:rPr lang="en-IN" altLang="en-GB" sz="1700" b="1" i="0" u="none" strike="noStrike" cap="none" dirty="0">
                <a:solidFill>
                  <a:srgbClr val="17365D"/>
                </a:solidFill>
                <a:latin typeface="Cambria" panose="02040503050406030204" pitchFamily="18" charset="0"/>
                <a:ea typeface="Cambria" panose="02040503050406030204" pitchFamily="18" charset="0"/>
                <a:cs typeface="Verdana" panose="020B0604030504040204"/>
                <a:sym typeface="Verdana" panose="020B0604030504040204"/>
              </a:rPr>
              <a:t>Asst. </a:t>
            </a:r>
            <a:r>
              <a:rPr lang="en-GB" sz="1700" b="1" i="0" u="none" strike="noStrike" cap="none" dirty="0">
                <a:solidFill>
                  <a:srgbClr val="17365D"/>
                </a:solidFill>
                <a:latin typeface="Cambria" panose="02040503050406030204" pitchFamily="18" charset="0"/>
                <a:ea typeface="Cambria" panose="02040503050406030204" pitchFamily="18" charset="0"/>
                <a:cs typeface="Verdana" panose="020B0604030504040204"/>
                <a:sym typeface="Verdana" panose="020B0604030504040204"/>
              </a:rPr>
              <a:t>Prof.</a:t>
            </a:r>
            <a:r>
              <a:rPr lang="en-IN" altLang="en-GB" sz="1700" b="1" i="0" u="none" strike="noStrike" cap="none" dirty="0">
                <a:solidFill>
                  <a:srgbClr val="17365D"/>
                </a:solidFill>
                <a:latin typeface="Cambria" panose="02040503050406030204" pitchFamily="18" charset="0"/>
                <a:ea typeface="Cambria" panose="02040503050406030204" pitchFamily="18" charset="0"/>
                <a:cs typeface="Verdana" panose="020B0604030504040204"/>
                <a:sym typeface="Verdana" panose="020B0604030504040204"/>
              </a:rPr>
              <a:t> John Bennet J</a:t>
            </a:r>
            <a:endParaRPr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0" marR="0" lvl="0" indent="0" algn="l" rtl="0">
              <a:spcBef>
                <a:spcPts val="340"/>
              </a:spcBef>
              <a:spcAft>
                <a:spcPts val="0"/>
              </a:spcAft>
              <a:buClr>
                <a:srgbClr val="17365D"/>
              </a:buClr>
              <a:buSzPts val="1700"/>
              <a:buFont typeface="Arial" panose="020B0604020202020204"/>
              <a:buNone/>
            </a:pPr>
            <a:r>
              <a:rPr lang="en-GB" sz="1700" b="1" i="0" u="none" strike="noStrike" cap="none">
                <a:solidFill>
                  <a:srgbClr val="17365D"/>
                </a:solidFill>
                <a:latin typeface="Cambria" panose="02040503050406030204" pitchFamily="18" charset="0"/>
                <a:ea typeface="Cambria" panose="02040503050406030204" pitchFamily="18" charset="0"/>
                <a:cs typeface="Verdana" panose="020B0604030504040204"/>
                <a:sym typeface="Verdana" panose="020B0604030504040204"/>
              </a:rPr>
              <a:t>Assistant </a:t>
            </a:r>
            <a:r>
              <a:rPr lang="en-GB" sz="1700" b="1" i="0" u="none" strike="noStrike" cap="none" dirty="0">
                <a:solidFill>
                  <a:srgbClr val="17365D"/>
                </a:solidFill>
                <a:latin typeface="Cambria" panose="02040503050406030204" pitchFamily="18" charset="0"/>
                <a:ea typeface="Cambria" panose="02040503050406030204" pitchFamily="18" charset="0"/>
                <a:cs typeface="Verdana" panose="020B0604030504040204"/>
                <a:sym typeface="Verdana" panose="020B0604030504040204"/>
              </a:rPr>
              <a:t>Professor</a:t>
            </a:r>
            <a:endParaRPr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0" marR="0" lvl="0" indent="0" algn="l" rtl="0">
              <a:spcBef>
                <a:spcPts val="340"/>
              </a:spcBef>
              <a:spcAft>
                <a:spcPts val="0"/>
              </a:spcAft>
              <a:buClr>
                <a:srgbClr val="17365D"/>
              </a:buClr>
              <a:buSzPts val="1700"/>
              <a:buFont typeface="Arial" panose="020B0604020202020204"/>
              <a:buNone/>
            </a:pPr>
            <a:r>
              <a:rPr lang="en-GB" sz="1700" b="1" i="0" u="none" strike="noStrike" cap="none" dirty="0">
                <a:solidFill>
                  <a:srgbClr val="17365D"/>
                </a:solidFill>
                <a:latin typeface="Cambria" panose="02040503050406030204" pitchFamily="18" charset="0"/>
                <a:ea typeface="Cambria" panose="02040503050406030204" pitchFamily="18" charset="0"/>
                <a:cs typeface="Verdana" panose="020B0604030504040204"/>
                <a:sym typeface="Verdana" panose="020B0604030504040204"/>
              </a:rPr>
              <a:t>Presidency School of </a:t>
            </a:r>
            <a:r>
              <a:rPr lang="en-US" altLang="en-GB" sz="1700" b="1" i="0" u="none" strike="noStrike" cap="none" dirty="0">
                <a:solidFill>
                  <a:srgbClr val="17365D"/>
                </a:solidFill>
                <a:latin typeface="Cambria" panose="02040503050406030204" pitchFamily="18" charset="0"/>
                <a:ea typeface="Cambria" panose="02040503050406030204" pitchFamily="18" charset="0"/>
                <a:cs typeface="Verdana" panose="020B0604030504040204"/>
                <a:sym typeface="Verdana" panose="020B0604030504040204"/>
              </a:rPr>
              <a:t> Artificial Intelligence &amp; Advanced Computing</a:t>
            </a:r>
            <a:endParaRPr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0" marR="0" lvl="0" indent="0" algn="l" rtl="0">
              <a:spcBef>
                <a:spcPts val="340"/>
              </a:spcBef>
              <a:spcAft>
                <a:spcPts val="0"/>
              </a:spcAft>
              <a:buClr>
                <a:srgbClr val="17365D"/>
              </a:buClr>
              <a:buSzPts val="1700"/>
              <a:buFont typeface="Arial" panose="020B0604020202020204"/>
              <a:buNone/>
            </a:pPr>
            <a:r>
              <a:rPr lang="en-GB" sz="1700" b="1" i="0" u="none" strike="noStrike" cap="none" dirty="0">
                <a:solidFill>
                  <a:srgbClr val="17365D"/>
                </a:solidFill>
                <a:latin typeface="Cambria" panose="02040503050406030204" pitchFamily="18" charset="0"/>
                <a:ea typeface="Cambria" panose="02040503050406030204" pitchFamily="18" charset="0"/>
                <a:cs typeface="Verdana" panose="020B0604030504040204"/>
                <a:sym typeface="Verdana" panose="020B0604030504040204"/>
              </a:rPr>
              <a:t>Presidency University</a:t>
            </a:r>
            <a:endParaRPr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Clr>
                <a:srgbClr val="17365D"/>
              </a:buClr>
              <a:buSzPts val="2000"/>
              <a:buFont typeface="Arial" panose="020B0604020202020204"/>
              <a:buNone/>
            </a:pPr>
            <a:endParaRPr sz="2000" b="1" i="0" u="none" strike="noStrike" cap="none" dirty="0">
              <a:solidFill>
                <a:srgbClr val="17365D"/>
              </a:solidFill>
              <a:latin typeface="Cambria" panose="02040503050406030204" pitchFamily="18" charset="0"/>
              <a:ea typeface="Cambria" panose="02040503050406030204" pitchFamily="18" charset="0"/>
              <a:cs typeface="Verdana" panose="020B0604030504040204"/>
              <a:sym typeface="Verdana" panose="020B0604030504040204"/>
            </a:endParaRPr>
          </a:p>
        </p:txBody>
      </p:sp>
      <p:sp>
        <p:nvSpPr>
          <p:cNvPr id="8" name="Google Shape;91;p13"/>
          <p:cNvSpPr txBox="1"/>
          <p:nvPr/>
        </p:nvSpPr>
        <p:spPr>
          <a:xfrm>
            <a:off x="156411" y="4130278"/>
            <a:ext cx="12249915" cy="156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Clr>
                <a:srgbClr val="17365D"/>
              </a:buClr>
              <a:buSzPct val="100000"/>
              <a:buFont typeface="Arial" panose="020B0604020202020204"/>
              <a:buNone/>
            </a:pPr>
            <a:r>
              <a:rPr lang="en-US" sz="2000" b="1" i="0" u="none" strike="noStrike" cap="none" dirty="0">
                <a:solidFill>
                  <a:schemeClr val="accent1">
                    <a:lumMod val="75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  <a:cs typeface="Verdana" panose="020B0604030504040204"/>
                <a:sym typeface="Verdana" panose="020B0604030504040204"/>
              </a:rPr>
              <a:t>Name of the Program:  AI Summer Internship Program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Clr>
                <a:srgbClr val="17365D"/>
              </a:buClr>
              <a:buSzPct val="100000"/>
              <a:buFont typeface="Arial" panose="020B0604020202020204"/>
              <a:buNone/>
            </a:pPr>
            <a:r>
              <a:rPr lang="en-US" sz="2000" b="1" dirty="0">
                <a:solidFill>
                  <a:schemeClr val="accent1">
                    <a:lumMod val="75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  <a:cs typeface="Verdana" panose="020B0604030504040204"/>
                <a:sym typeface="Verdana" panose="020B0604030504040204"/>
              </a:rPr>
              <a:t>Name of the HoD: </a:t>
            </a:r>
            <a:r>
              <a:rPr lang="en-IN" altLang="en-US" sz="2000" b="1" dirty="0">
                <a:solidFill>
                  <a:schemeClr val="accent1">
                    <a:lumMod val="75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  <a:cs typeface="Verdana" panose="020B0604030504040204"/>
                <a:sym typeface="Verdana" panose="020B0604030504040204"/>
              </a:rPr>
              <a:t>Prof. Zafar Ali Khan</a:t>
            </a:r>
            <a:endParaRPr lang="en-US" sz="2000" b="1" dirty="0">
              <a:solidFill>
                <a:schemeClr val="accent1">
                  <a:lumMod val="75000"/>
                </a:schemeClr>
              </a:solidFill>
              <a:latin typeface="Cambria" panose="02040503050406030204" pitchFamily="18" charset="0"/>
              <a:ea typeface="Cambria" panose="02040503050406030204" pitchFamily="18" charset="0"/>
              <a:cs typeface="Verdana" panose="020B0604030504040204"/>
              <a:sym typeface="Verdana" panose="020B0604030504040204"/>
            </a:endParaRP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Clr>
                <a:srgbClr val="17365D"/>
              </a:buClr>
              <a:buSzPct val="100000"/>
              <a:buFont typeface="Arial" panose="020B0604020202020204"/>
              <a:buNone/>
            </a:pPr>
            <a:r>
              <a:rPr lang="en-US" sz="2000" b="1" i="0" u="none" strike="noStrike" cap="none" dirty="0">
                <a:solidFill>
                  <a:schemeClr val="accent1">
                    <a:lumMod val="75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  <a:cs typeface="Verdana" panose="020B0604030504040204"/>
                <a:sym typeface="Verdana" panose="020B0604030504040204"/>
              </a:rPr>
              <a:t>Name of the Program Internship Coordinator:  Mr. Anandan B</a:t>
            </a:r>
          </a:p>
          <a:p>
            <a:pPr lvl="0">
              <a:buClr>
                <a:srgbClr val="17365D"/>
              </a:buClr>
              <a:buSzPct val="100000"/>
            </a:pPr>
            <a:r>
              <a:rPr lang="en-US" sz="2000" b="1" dirty="0">
                <a:solidFill>
                  <a:schemeClr val="accent1">
                    <a:lumMod val="75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  <a:cs typeface="Verdana" panose="020B0604030504040204"/>
                <a:sym typeface="Verdana" panose="020B0604030504040204"/>
              </a:rPr>
              <a:t>Name of the School Internship Coordinator:  Dr.  Geetha Arjunan</a:t>
            </a:r>
          </a:p>
          <a:p>
            <a:pPr lvl="0">
              <a:buClr>
                <a:srgbClr val="17365D"/>
              </a:buClr>
              <a:buSzPct val="100000"/>
            </a:pPr>
            <a:r>
              <a:rPr lang="en-US" sz="2000" b="1" dirty="0">
                <a:latin typeface="Cambria" panose="02040503050406030204" pitchFamily="18" charset="0"/>
                <a:ea typeface="Cambria" panose="02040503050406030204" pitchFamily="18" charset="0"/>
                <a:cs typeface="Verdana" panose="020B0604030504040204"/>
                <a:sym typeface="Verdana" panose="020B0604030504040204"/>
              </a:rPr>
              <a:t> 													</a:t>
            </a:r>
            <a:endParaRPr sz="2000" b="1" i="0" u="none" strike="noStrike" cap="none" dirty="0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  <a:cs typeface="Verdana" panose="020B0604030504040204"/>
              <a:sym typeface="Verdana" panose="020B0604030504040204"/>
            </a:endParaRPr>
          </a:p>
        </p:txBody>
      </p:sp>
      <p:sp>
        <p:nvSpPr>
          <p:cNvPr id="9" name="Title 1"/>
          <p:cNvSpPr txBox="1"/>
          <p:nvPr/>
        </p:nvSpPr>
        <p:spPr>
          <a:xfrm>
            <a:off x="838200" y="130629"/>
            <a:ext cx="10515600" cy="15600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7365D"/>
              </a:buClr>
              <a:buSzPts val="2800"/>
              <a:buFont typeface="Verdana" panose="020B0604030504040204"/>
              <a:buNone/>
              <a:defRPr sz="2800" b="1" i="0" u="none" strike="noStrike" cap="none">
                <a:solidFill>
                  <a:srgbClr val="17365D"/>
                </a:solidFill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algn="ctr"/>
            <a:r>
              <a:rPr lang="en-US" altLang="en-US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CSS7000 - INTERNSHIP</a:t>
            </a:r>
            <a:br>
              <a:rPr lang="en-IN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400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Review- Presentation </a:t>
            </a:r>
            <a:br>
              <a:rPr lang="en-US" sz="2400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</a:br>
            <a:r>
              <a:rPr lang="en-IN" altLang="en-US" sz="2400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Bharat Study Chatbot: </a:t>
            </a:r>
            <a:r>
              <a:rPr lang="en-US" altLang="en-US" sz="2400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An Enterprise Based AI Study Companion</a:t>
            </a:r>
            <a:br>
              <a:rPr lang="en-US" sz="2400" dirty="0">
                <a:solidFill>
                  <a:srgbClr val="0070C0"/>
                </a:solidFill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</a:b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01909" y="1911875"/>
          <a:ext cx="5321552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27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5028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62263">
                <a:tc gridSpan="2"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Cambria" panose="02040503050406030204" pitchFamily="18" charset="0"/>
                          <a:ea typeface="Cambria" panose="02040503050406030204" pitchFamily="18" charset="0"/>
                          <a:cs typeface="Times New Roman" panose="02020603050405020304" pitchFamily="18" charset="0"/>
                        </a:rPr>
                        <a:t>Student Details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2263">
                <a:tc>
                  <a:txBody>
                    <a:bodyPr/>
                    <a:lstStyle/>
                    <a:p>
                      <a:pPr algn="l"/>
                      <a:r>
                        <a:rPr lang="en-US" b="1" dirty="0">
                          <a:latin typeface="Cambria" panose="02040503050406030204" pitchFamily="18" charset="0"/>
                          <a:ea typeface="Cambria" panose="02040503050406030204" pitchFamily="18" charset="0"/>
                          <a:cs typeface="Times New Roman" panose="02020603050405020304" pitchFamily="18" charset="0"/>
                        </a:rPr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altLang="en-US" dirty="0">
                          <a:latin typeface="Cambria" panose="02040503050406030204" pitchFamily="18" charset="0"/>
                          <a:ea typeface="Cambria" panose="02040503050406030204" pitchFamily="18" charset="0"/>
                          <a:cs typeface="Times New Roman" panose="02020603050405020304" pitchFamily="18" charset="0"/>
                        </a:rPr>
                        <a:t>ROHAN BLAZEY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2263">
                <a:tc>
                  <a:txBody>
                    <a:bodyPr/>
                    <a:lstStyle/>
                    <a:p>
                      <a:pPr algn="l"/>
                      <a:r>
                        <a:rPr lang="en-US" b="1" dirty="0">
                          <a:latin typeface="Cambria" panose="02040503050406030204" pitchFamily="18" charset="0"/>
                          <a:ea typeface="Cambria" panose="02040503050406030204" pitchFamily="18" charset="0"/>
                          <a:cs typeface="Times New Roman" panose="02020603050405020304" pitchFamily="18" charset="0"/>
                        </a:rPr>
                        <a:t>Roll 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altLang="en-US" dirty="0">
                          <a:latin typeface="Cambria" panose="02040503050406030204" pitchFamily="18" charset="0"/>
                          <a:ea typeface="Cambria" panose="02040503050406030204" pitchFamily="18" charset="0"/>
                          <a:cs typeface="Times New Roman" panose="02020603050405020304" pitchFamily="18" charset="0"/>
                        </a:rPr>
                        <a:t>20241CAI0078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2263">
                <a:tc>
                  <a:txBody>
                    <a:bodyPr/>
                    <a:lstStyle/>
                    <a:p>
                      <a:pPr algn="l"/>
                      <a:r>
                        <a:rPr lang="en-US" b="1" dirty="0">
                          <a:latin typeface="Cambria" panose="02040503050406030204" pitchFamily="18" charset="0"/>
                          <a:ea typeface="Cambria" panose="02040503050406030204" pitchFamily="18" charset="0"/>
                          <a:cs typeface="Times New Roman" panose="02020603050405020304" pitchFamily="18" charset="0"/>
                        </a:rPr>
                        <a:t>Section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altLang="en-US" dirty="0">
                          <a:latin typeface="Cambria" panose="02040503050406030204" pitchFamily="18" charset="0"/>
                          <a:ea typeface="Cambria" panose="02040503050406030204" pitchFamily="18" charset="0"/>
                          <a:cs typeface="Times New Roman" panose="02020603050405020304" pitchFamily="18" charset="0"/>
                        </a:rPr>
                        <a:t>5CAI02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4"/>
          <p:cNvSpPr txBox="1">
            <a:spLocks noGrp="1"/>
          </p:cNvSpPr>
          <p:nvPr>
            <p:ph type="title"/>
          </p:nvPr>
        </p:nvSpPr>
        <p:spPr>
          <a:xfrm>
            <a:off x="812800" y="274638"/>
            <a:ext cx="10668000" cy="48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17365D"/>
              </a:buClr>
              <a:buSzPts val="2800"/>
              <a:buFont typeface="Verdana" panose="020B0604030504040204"/>
              <a:buNone/>
            </a:pPr>
            <a:r>
              <a:rPr lang="en-GB" dirty="0">
                <a:latin typeface="Cambria" panose="02040503050406030204" pitchFamily="18" charset="0"/>
                <a:ea typeface="Cambria" panose="02040503050406030204" pitchFamily="18" charset="0"/>
              </a:rPr>
              <a:t>Content</a:t>
            </a:r>
            <a:endParaRPr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97" name="Google Shape;97;p14"/>
          <p:cNvSpPr txBox="1">
            <a:spLocks noGrp="1"/>
          </p:cNvSpPr>
          <p:nvPr>
            <p:ph type="body" idx="1"/>
          </p:nvPr>
        </p:nvSpPr>
        <p:spPr>
          <a:xfrm>
            <a:off x="704516" y="902370"/>
            <a:ext cx="10668000" cy="4271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495300" indent="-342900" algn="just">
              <a:lnSpc>
                <a:spcPct val="200000"/>
              </a:lnSpc>
              <a:spcBef>
                <a:spcPts val="0"/>
              </a:spcBef>
              <a:buFont typeface="Wingdings" panose="05000000000000000000" pitchFamily="2" charset="2"/>
              <a:buChar char="Ø"/>
            </a:pPr>
            <a:r>
              <a:rPr lang="en-US" sz="2000" b="1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About Company or Organization</a:t>
            </a:r>
          </a:p>
          <a:p>
            <a:pPr marL="495300" indent="-342900" algn="just">
              <a:lnSpc>
                <a:spcPct val="200000"/>
              </a:lnSpc>
              <a:spcBef>
                <a:spcPts val="0"/>
              </a:spcBef>
              <a:buFont typeface="Wingdings" panose="05000000000000000000" pitchFamily="2" charset="2"/>
              <a:buChar char="Ø"/>
            </a:pPr>
            <a:r>
              <a:rPr lang="en-IN" sz="2000" b="1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Working domain or the technology</a:t>
            </a:r>
            <a:endParaRPr lang="en-US" sz="2000" dirty="0">
              <a:solidFill>
                <a:schemeClr val="accent1">
                  <a:lumMod val="75000"/>
                </a:schemeClr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495300" indent="-342900" algn="just">
              <a:lnSpc>
                <a:spcPct val="200000"/>
              </a:lnSpc>
              <a:spcBef>
                <a:spcPts val="0"/>
              </a:spcBef>
              <a:buFont typeface="Wingdings" panose="05000000000000000000" pitchFamily="2" charset="2"/>
              <a:buChar char="Ø"/>
            </a:pPr>
            <a:r>
              <a:rPr lang="en-IN" sz="2000" b="1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About your team and reporting Manager</a:t>
            </a:r>
            <a:endParaRPr lang="en-US" sz="2000" dirty="0">
              <a:solidFill>
                <a:schemeClr val="accent1">
                  <a:lumMod val="75000"/>
                </a:schemeClr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495300" indent="-342900" algn="just">
              <a:lnSpc>
                <a:spcPct val="200000"/>
              </a:lnSpc>
              <a:spcBef>
                <a:spcPts val="0"/>
              </a:spcBef>
              <a:buFont typeface="Wingdings" panose="05000000000000000000" pitchFamily="2" charset="2"/>
              <a:buChar char="Ø"/>
            </a:pPr>
            <a:r>
              <a:rPr lang="en-IN" sz="2000" b="1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Challenges Faced in Internship</a:t>
            </a:r>
            <a:endParaRPr lang="en-US" sz="2000" dirty="0">
              <a:solidFill>
                <a:schemeClr val="accent1">
                  <a:lumMod val="75000"/>
                </a:schemeClr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495300" indent="-342900" algn="just">
              <a:lnSpc>
                <a:spcPct val="200000"/>
              </a:lnSpc>
              <a:spcBef>
                <a:spcPts val="0"/>
              </a:spcBef>
              <a:buFont typeface="Wingdings" panose="05000000000000000000" pitchFamily="2" charset="2"/>
              <a:buChar char="Ø"/>
            </a:pPr>
            <a:r>
              <a:rPr lang="en-IN" sz="2000" b="1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Objectives of the work</a:t>
            </a:r>
          </a:p>
          <a:p>
            <a:pPr marL="495300" indent="-342900" algn="just">
              <a:lnSpc>
                <a:spcPct val="200000"/>
              </a:lnSpc>
              <a:spcBef>
                <a:spcPts val="0"/>
              </a:spcBef>
              <a:buFont typeface="Wingdings" panose="05000000000000000000" pitchFamily="2" charset="2"/>
              <a:buChar char="Ø"/>
            </a:pPr>
            <a:r>
              <a:rPr lang="en-IN" sz="2000" b="1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Internship Roadmap</a:t>
            </a:r>
          </a:p>
          <a:p>
            <a:pPr marL="495300" indent="-342900" algn="just">
              <a:lnSpc>
                <a:spcPct val="200000"/>
              </a:lnSpc>
              <a:spcBef>
                <a:spcPts val="0"/>
              </a:spcBef>
              <a:buFont typeface="Wingdings" panose="05000000000000000000" pitchFamily="2" charset="2"/>
              <a:buChar char="Ø"/>
            </a:pPr>
            <a:r>
              <a:rPr lang="en-IN" sz="2000" b="1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Github Link</a:t>
            </a:r>
            <a:endParaRPr lang="en-US" sz="2000" dirty="0">
              <a:solidFill>
                <a:schemeClr val="accent1">
                  <a:lumMod val="75000"/>
                </a:schemeClr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495300" lvl="0" indent="-342900" algn="just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Wingdings" panose="05000000000000000000" pitchFamily="2" charset="2"/>
              <a:buChar char="Ø"/>
            </a:pPr>
            <a:endParaRPr lang="en-US" sz="2000" dirty="0">
              <a:solidFill>
                <a:schemeClr val="accent1">
                  <a:lumMod val="75000"/>
                </a:schemeClr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19241"/>
          </a:xfrm>
        </p:spPr>
        <p:txBody>
          <a:bodyPr/>
          <a:lstStyle/>
          <a:p>
            <a:r>
              <a:rPr lang="en-US" sz="3200" b="1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</a:t>
            </a:r>
            <a:r>
              <a:rPr lang="en-IN" sz="3200" b="1" dirty="0" err="1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verview</a:t>
            </a:r>
            <a:endParaRPr lang="en-IN" sz="3200" b="1" dirty="0">
              <a:solidFill>
                <a:schemeClr val="accent1">
                  <a:lumMod val="7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184367"/>
            <a:ext cx="10515600" cy="4058194"/>
          </a:xfrm>
        </p:spPr>
        <p:txBody>
          <a:bodyPr>
            <a:normAutofit/>
          </a:bodyPr>
          <a:lstStyle/>
          <a:p>
            <a:pPr lvl="0"/>
            <a:r>
              <a:rPr lang="en-IN" dirty="0"/>
              <a:t>Project: Bharat Study Chatbot – An AI Study Companion</a:t>
            </a:r>
          </a:p>
          <a:p>
            <a:pPr lvl="0"/>
            <a:r>
              <a:rPr lang="en-IN" dirty="0"/>
              <a:t>Team Structure: Individual Project - Rohan Blazey </a:t>
            </a:r>
          </a:p>
          <a:p>
            <a:pPr lvl="0"/>
            <a:r>
              <a:rPr lang="en-IN" dirty="0"/>
              <a:t>Mentorship: NVIDIA AI Centre of Excellence </a:t>
            </a:r>
          </a:p>
          <a:p>
            <a:pPr lvl="0"/>
            <a:r>
              <a:rPr lang="en-IN" dirty="0"/>
              <a:t>Supervisor: Asst. Prof. John Bennet J</a:t>
            </a:r>
          </a:p>
          <a:p>
            <a:pPr lvl="0"/>
            <a:r>
              <a:rPr lang="en-IN" dirty="0"/>
              <a:t>Technologies: Next.js, </a:t>
            </a:r>
            <a:r>
              <a:rPr lang="en-IN" dirty="0" err="1"/>
              <a:t>FastAPI</a:t>
            </a:r>
            <a:r>
              <a:rPr lang="en-IN" dirty="0"/>
              <a:t>, Python, </a:t>
            </a:r>
            <a:r>
              <a:rPr lang="en-IN" dirty="0" err="1"/>
              <a:t>ChromaDB</a:t>
            </a:r>
            <a:r>
              <a:rPr lang="en-IN" dirty="0"/>
              <a:t>, Hugging Face</a:t>
            </a:r>
          </a:p>
          <a:p>
            <a:pPr lvl="0"/>
            <a:r>
              <a:rPr lang="en-IN" dirty="0"/>
              <a:t>Infrastructure: The infrastructure operates as a zero-cost Edge AI system running entirely on a local laptop CPU and Wi-Fi network, with cross-device accessibility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15EC703-C051-410C-8BA1-62752E291E83}" type="slidenum">
              <a:rPr lang="en-US" altLang="en-US" smtClean="0"/>
              <a:t>3</a:t>
            </a:fld>
            <a:endParaRPr lang="en-US" alt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19241"/>
          </a:xfrm>
        </p:spPr>
        <p:txBody>
          <a:bodyPr/>
          <a:lstStyle/>
          <a:p>
            <a:r>
              <a:rPr lang="en-IN" sz="3200" b="1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Objectives of the 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184367"/>
            <a:ext cx="10515600" cy="4058194"/>
          </a:xfrm>
        </p:spPr>
        <p:txBody>
          <a:bodyPr>
            <a:normAutofit fontScale="92500" lnSpcReduction="10000"/>
          </a:bodyPr>
          <a:lstStyle/>
          <a:p>
            <a:pPr lvl="0"/>
            <a:r>
              <a:rPr lang="en-IN" dirty="0"/>
              <a:t>Automate educational assessment workflows </a:t>
            </a:r>
          </a:p>
          <a:p>
            <a:pPr lvl="0"/>
            <a:r>
              <a:rPr lang="en-IN" dirty="0"/>
              <a:t>Provide absolute factual determinism by eliminating AI hallucinations in competitive exam preparation (UPSC, NDA, GATE).</a:t>
            </a:r>
          </a:p>
          <a:p>
            <a:pPr lvl="0"/>
            <a:r>
              <a:rPr lang="en-IN" dirty="0"/>
              <a:t>Ensure computational sovereignty and zero recurring costs by utilizing local, open-source LLMs (Llama-3.2-3.8B).</a:t>
            </a:r>
          </a:p>
          <a:p>
            <a:pPr lvl="0"/>
            <a:r>
              <a:rPr lang="en-IN" dirty="0"/>
              <a:t>Bridge India's digital and linguistic divide via a low-latency, 12-language localization pipeline.</a:t>
            </a:r>
          </a:p>
          <a:p>
            <a:pPr lvl="0"/>
            <a:r>
              <a:rPr lang="en-IN" dirty="0"/>
              <a:t>Deploy a universally accessible Progressive Web Application (PWA) to serve resource-constrained mobile hardware in rural demographics.</a:t>
            </a:r>
          </a:p>
          <a:p>
            <a:pPr lvl="0"/>
            <a:r>
              <a:rPr lang="en-IN" dirty="0"/>
              <a:t>Demonstrate practical AI/ML application in EdTech </a:t>
            </a:r>
          </a:p>
          <a:p>
            <a:pPr marL="0" indent="0">
              <a:buNone/>
            </a:pP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15EC703-C051-410C-8BA1-62752E291E83}" type="slidenum">
              <a:rPr lang="en-US" altLang="en-US" smtClean="0"/>
              <a:t>4</a:t>
            </a:fld>
            <a:endParaRPr lang="en-US" alt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79904"/>
          </a:xfrm>
        </p:spPr>
        <p:txBody>
          <a:bodyPr/>
          <a:lstStyle/>
          <a:p>
            <a:r>
              <a:rPr lang="en-US" sz="3200" b="1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About Company or Organization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045031"/>
            <a:ext cx="10515600" cy="4193176"/>
          </a:xfrm>
        </p:spPr>
        <p:txBody>
          <a:bodyPr/>
          <a:lstStyle/>
          <a:p>
            <a:pPr lvl="0"/>
            <a:r>
              <a:rPr lang="en-IN" dirty="0"/>
              <a:t>NVIDIA Accelerated AI Centre of Excellence </a:t>
            </a:r>
          </a:p>
          <a:p>
            <a:pPr lvl="0"/>
            <a:r>
              <a:rPr lang="en-IN" dirty="0"/>
              <a:t>NVIDIA - Leading AI and GPU Computing Company </a:t>
            </a:r>
          </a:p>
          <a:p>
            <a:pPr lvl="0"/>
            <a:r>
              <a:rPr lang="en-IN" dirty="0"/>
              <a:t>Focus: Accelerating AI, HPC, and Deep Learning </a:t>
            </a:r>
          </a:p>
          <a:p>
            <a:pPr lvl="0"/>
            <a:r>
              <a:rPr lang="en-IN" dirty="0"/>
              <a:t>NVIDIA H200 GPU: Advanced AI Accelerator with Hopper Architecture </a:t>
            </a:r>
          </a:p>
          <a:p>
            <a:pPr lvl="0"/>
            <a:r>
              <a:rPr lang="en-IN" dirty="0"/>
              <a:t>Applications: ML, DL, Computer Vision, NLP, Generative AI </a:t>
            </a:r>
          </a:p>
          <a:p>
            <a:pPr lvl="0"/>
            <a:r>
              <a:rPr lang="en-IN" dirty="0"/>
              <a:t>Mission: Supporting next-generation AI infrastructure and education </a:t>
            </a:r>
          </a:p>
          <a:p>
            <a:pPr marL="0" indent="0">
              <a:buNone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15EC703-C051-410C-8BA1-62752E291E83}" type="slidenum">
              <a:rPr lang="en-US" altLang="en-US" smtClean="0"/>
              <a:t>5</a:t>
            </a:fld>
            <a:endParaRPr lang="en-US" alt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19241"/>
          </a:xfrm>
        </p:spPr>
        <p:txBody>
          <a:bodyPr/>
          <a:lstStyle/>
          <a:p>
            <a:r>
              <a:rPr lang="en-IN" sz="3200" b="1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Working domain or the technology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184367"/>
            <a:ext cx="10515600" cy="4058194"/>
          </a:xfrm>
        </p:spPr>
        <p:txBody>
          <a:bodyPr/>
          <a:lstStyle/>
          <a:p>
            <a:pPr lvl="0"/>
            <a:r>
              <a:rPr lang="en-IN" dirty="0"/>
              <a:t>Domain: Educational AI &amp; Natural Language Processing </a:t>
            </a:r>
          </a:p>
          <a:p>
            <a:pPr lvl="0"/>
            <a:r>
              <a:rPr lang="en-IN" dirty="0"/>
              <a:t>Enterprise-Grade Retrieval-Augmented Generation (RAG)</a:t>
            </a:r>
          </a:p>
          <a:p>
            <a:pPr lvl="0"/>
            <a:r>
              <a:rPr lang="en-IN" dirty="0"/>
              <a:t>Hybrid Search Pipeline combining Semantic Vectors (</a:t>
            </a:r>
            <a:r>
              <a:rPr lang="en-IN" dirty="0" err="1"/>
              <a:t>ChromaDB</a:t>
            </a:r>
            <a:r>
              <a:rPr lang="en-IN" dirty="0"/>
              <a:t>) and Lexical Matching (BM25)</a:t>
            </a:r>
          </a:p>
          <a:p>
            <a:pPr lvl="0"/>
            <a:r>
              <a:rPr lang="en-IN" dirty="0"/>
              <a:t>Real-Time API Orchestration for Current Affairs Aggregation</a:t>
            </a:r>
          </a:p>
          <a:p>
            <a:pPr lvl="0"/>
            <a:r>
              <a:rPr lang="en-IN" dirty="0"/>
              <a:t>Neural Machine Translation across 12 Regional Indian Languages</a:t>
            </a:r>
          </a:p>
          <a:p>
            <a:pPr lvl="0"/>
            <a:r>
              <a:rPr lang="en-IN" dirty="0"/>
              <a:t>Interactive Web Application Development </a:t>
            </a:r>
          </a:p>
          <a:p>
            <a:pPr lvl="0"/>
            <a:r>
              <a:rPr lang="en-IN" dirty="0"/>
              <a:t>CUDA &amp; GPU-Accelerated Computing </a:t>
            </a:r>
          </a:p>
          <a:p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15EC703-C051-410C-8BA1-62752E291E83}" type="slidenum">
              <a:rPr lang="en-US" altLang="en-US" smtClean="0"/>
              <a:t>6</a:t>
            </a:fld>
            <a:endParaRPr lang="en-US" alt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5CB2264-2444-834A-7E85-E7D089E9FB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BE2297-DC8B-48E6-B6D6-34773F9A5984}" type="datetime1">
              <a:rPr lang="en-IN" smtClean="0"/>
              <a:t>22-08-2026</a:t>
            </a:fld>
            <a:endParaRPr lang="en-IN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8A0F944-B514-843C-6F1E-0240A5C69F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2F6845-8F47-4AB8-B9CE-96D88E741707}" type="slidenum">
              <a:rPr lang="en-IN" smtClean="0"/>
              <a:t>7</a:t>
            </a:fld>
            <a:endParaRPr lang="en-IN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CECE51A-FE0A-B786-A06E-69AEE9C1C5A0}"/>
              </a:ext>
            </a:extLst>
          </p:cNvPr>
          <p:cNvSpPr txBox="1"/>
          <p:nvPr/>
        </p:nvSpPr>
        <p:spPr>
          <a:xfrm>
            <a:off x="98612" y="0"/>
            <a:ext cx="12093388" cy="59093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dirty="0"/>
              <a:t>Frontend Specifications</a:t>
            </a:r>
          </a:p>
          <a:p>
            <a:pPr lvl="0"/>
            <a:r>
              <a:rPr lang="en-IN" dirty="0"/>
              <a:t>Framework: Next.js (React.js) with App Router</a:t>
            </a:r>
          </a:p>
          <a:p>
            <a:pPr lvl="0"/>
            <a:r>
              <a:rPr lang="en-IN" dirty="0"/>
              <a:t>Language and Styling: TypeScript / JavaScript  and CSS</a:t>
            </a:r>
          </a:p>
          <a:p>
            <a:pPr lvl="0"/>
            <a:r>
              <a:rPr lang="en-IN" dirty="0"/>
              <a:t>Native Web APIs: Web Speech API (for Text-to-Speech audio generation)</a:t>
            </a:r>
          </a:p>
          <a:p>
            <a:pPr lvl="0"/>
            <a:endParaRPr lang="en-IN" dirty="0"/>
          </a:p>
          <a:p>
            <a:r>
              <a:rPr lang="en-IN" dirty="0"/>
              <a:t>Backend Specifications</a:t>
            </a:r>
          </a:p>
          <a:p>
            <a:pPr lvl="0"/>
            <a:r>
              <a:rPr lang="en-IN" dirty="0"/>
              <a:t>Framework: </a:t>
            </a:r>
            <a:r>
              <a:rPr lang="en-IN" dirty="0" err="1"/>
              <a:t>FastAPI</a:t>
            </a:r>
            <a:r>
              <a:rPr lang="en-IN" dirty="0"/>
              <a:t> (High-performance, asynchronous REST API)</a:t>
            </a:r>
          </a:p>
          <a:p>
            <a:pPr lvl="0"/>
            <a:r>
              <a:rPr lang="en-IN" dirty="0"/>
              <a:t>Language: Python 3.x</a:t>
            </a:r>
          </a:p>
          <a:p>
            <a:pPr lvl="0"/>
            <a:r>
              <a:rPr lang="en-IN" dirty="0"/>
              <a:t>Server: </a:t>
            </a:r>
            <a:r>
              <a:rPr lang="en-IN" dirty="0" err="1"/>
              <a:t>Uvicorn</a:t>
            </a:r>
            <a:r>
              <a:rPr lang="en-IN" dirty="0"/>
              <a:t> (ASGI web server)</a:t>
            </a:r>
          </a:p>
          <a:p>
            <a:pPr lvl="0"/>
            <a:endParaRPr lang="en-IN" dirty="0"/>
          </a:p>
          <a:p>
            <a:r>
              <a:rPr lang="en-IN" dirty="0"/>
              <a:t>AI &amp; Machine Learning Specs</a:t>
            </a:r>
          </a:p>
          <a:p>
            <a:pPr lvl="0"/>
            <a:r>
              <a:rPr lang="en-IN" dirty="0"/>
              <a:t>Large Language Model (LLM): Meta Llama-3 (8 Billion Parameters, Instruct-tuned)</a:t>
            </a:r>
          </a:p>
          <a:p>
            <a:pPr lvl="0"/>
            <a:r>
              <a:rPr lang="en-IN" dirty="0"/>
              <a:t>Inference Engine: GPT4All Python Bindings (Hardware-agnostic, edge-computing engine)</a:t>
            </a:r>
          </a:p>
          <a:p>
            <a:pPr lvl="0"/>
            <a:r>
              <a:rPr lang="en-IN" dirty="0"/>
              <a:t>Vector Database: </a:t>
            </a:r>
            <a:r>
              <a:rPr lang="en-IN" dirty="0" err="1"/>
              <a:t>ChromaDB</a:t>
            </a:r>
            <a:r>
              <a:rPr lang="en-IN" dirty="0"/>
              <a:t> </a:t>
            </a:r>
          </a:p>
          <a:p>
            <a:pPr lvl="0"/>
            <a:r>
              <a:rPr lang="en-IN" dirty="0"/>
              <a:t>Document Processing: PyPDF2 for text extraction</a:t>
            </a:r>
          </a:p>
          <a:p>
            <a:pPr lvl="0"/>
            <a:endParaRPr lang="en-IN" dirty="0"/>
          </a:p>
          <a:p>
            <a:r>
              <a:rPr lang="en-IN" dirty="0"/>
              <a:t>Architecture &amp; Deployment</a:t>
            </a:r>
          </a:p>
          <a:p>
            <a:pPr lvl="0"/>
            <a:r>
              <a:rPr lang="en-IN" dirty="0"/>
              <a:t>System Architecture: Decoupled Client-Server Architecture (REST API)</a:t>
            </a:r>
          </a:p>
          <a:p>
            <a:pPr lvl="0"/>
            <a:r>
              <a:rPr lang="en-IN" dirty="0"/>
              <a:t>Deployment Style: Edge AI / Local On-Premise Hosting</a:t>
            </a:r>
          </a:p>
          <a:p>
            <a:pPr lvl="0"/>
            <a:r>
              <a:rPr lang="en-IN" dirty="0"/>
              <a:t>Networking: Bound to Local Area Network (LAN) via 0.0.0.0</a:t>
            </a:r>
          </a:p>
          <a:p>
            <a:pPr lvl="0"/>
            <a:r>
              <a:rPr lang="en-IN" dirty="0"/>
              <a:t>Access Control: Allows cross-device access (Mobile/Tablet) via IPv4 routing without internet access</a:t>
            </a:r>
          </a:p>
        </p:txBody>
      </p:sp>
    </p:spTree>
    <p:extLst>
      <p:ext uri="{BB962C8B-B14F-4D97-AF65-F5344CB8AC3E}">
        <p14:creationId xmlns:p14="http://schemas.microsoft.com/office/powerpoint/2010/main" val="99430009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19241"/>
          </a:xfrm>
        </p:spPr>
        <p:txBody>
          <a:bodyPr/>
          <a:lstStyle/>
          <a:p>
            <a:r>
              <a:rPr lang="en-IN" sz="3200" b="1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Challenges Faced in Internship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184367"/>
            <a:ext cx="10515600" cy="4058194"/>
          </a:xfrm>
        </p:spPr>
        <p:txBody>
          <a:bodyPr>
            <a:normAutofit lnSpcReduction="10000"/>
          </a:bodyPr>
          <a:lstStyle/>
          <a:p>
            <a:pPr lvl="0"/>
            <a:r>
              <a:rPr lang="en-IN" dirty="0"/>
              <a:t>Learning Complex NLP &amp; Transformer Models </a:t>
            </a:r>
          </a:p>
          <a:p>
            <a:pPr lvl="0"/>
            <a:r>
              <a:rPr lang="en-IN" dirty="0"/>
              <a:t>Mastering CUDA &amp; GPU Computing for AI </a:t>
            </a:r>
          </a:p>
          <a:p>
            <a:pPr lvl="0"/>
            <a:r>
              <a:rPr lang="en-IN" dirty="0"/>
              <a:t>Understanding Kubernetes Container Orchestration </a:t>
            </a:r>
          </a:p>
          <a:p>
            <a:pPr lvl="0"/>
            <a:r>
              <a:rPr lang="en-IN" dirty="0"/>
              <a:t>Overcoming the limitations of linear "Naive RAG" pipelines by developing robust Hybrid search algorithms.</a:t>
            </a:r>
          </a:p>
          <a:p>
            <a:pPr lvl="0"/>
            <a:r>
              <a:rPr lang="en-IN" dirty="0"/>
              <a:t>Resolving silent, cascading API failures caused by environment variable mismatches between local and production deployments.</a:t>
            </a:r>
          </a:p>
          <a:p>
            <a:pPr lvl="0"/>
            <a:r>
              <a:rPr lang="en-IN" dirty="0"/>
              <a:t>Bypassing rate-limiting bottlenecks from third-party news APIs via redundant failover orchestration.</a:t>
            </a:r>
          </a:p>
          <a:p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15EC703-C051-410C-8BA1-62752E291E83}" type="slidenum">
              <a:rPr lang="en-US" altLang="en-US" smtClean="0"/>
              <a:t>8</a:t>
            </a:fld>
            <a:endParaRPr lang="en-US" alt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596311"/>
          </a:xfrm>
        </p:spPr>
        <p:txBody>
          <a:bodyPr/>
          <a:lstStyle/>
          <a:p>
            <a:r>
              <a:rPr lang="en-US" sz="3200" b="1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Github Link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15EC703-C051-410C-8BA1-62752E291E83}" type="slidenum">
              <a:rPr lang="en-US" altLang="en-US" smtClean="0"/>
              <a:t>9</a:t>
            </a:fld>
            <a:endParaRPr lang="en-US" alt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46308" y="1061297"/>
            <a:ext cx="10515600" cy="4351338"/>
          </a:xfrm>
        </p:spPr>
        <p:txBody>
          <a:bodyPr/>
          <a:lstStyle/>
          <a:p>
            <a:r>
              <a:rPr lang="en-US" altLang="en-US" dirty="0"/>
              <a:t>https://github.com/ROHAN-BLAZEY/bharat-study-chatbot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0"/>
            <a:ext cx="12192000" cy="6858000"/>
          </a:xfrm>
          <a:solidFill>
            <a:schemeClr val="accent1">
              <a:lumMod val="50000"/>
            </a:schemeClr>
          </a:solidFill>
        </p:spPr>
        <p:txBody>
          <a:bodyPr/>
          <a:lstStyle/>
          <a:p>
            <a:pPr marL="0" indent="0" algn="ctr">
              <a:buNone/>
            </a:pPr>
            <a:endParaRPr lang="en-US" sz="6600" dirty="0">
              <a:solidFill>
                <a:srgbClr val="FFFF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ctr">
              <a:buNone/>
            </a:pPr>
            <a:r>
              <a:rPr lang="en-US" sz="6600" dirty="0">
                <a:solidFill>
                  <a:srgbClr val="FFFF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</a:t>
            </a:r>
            <a:r>
              <a:rPr lang="en-US" sz="6600" dirty="0">
                <a:solidFill>
                  <a:schemeClr val="accent2">
                    <a:lumMod val="40000"/>
                    <a:lumOff val="6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Q&amp;A</a:t>
            </a:r>
          </a:p>
          <a:p>
            <a:pPr marL="0" indent="0" algn="ctr">
              <a:buNone/>
            </a:pPr>
            <a:endParaRPr lang="en-US" sz="6600" dirty="0">
              <a:solidFill>
                <a:srgbClr val="A7118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15EC703-C051-410C-8BA1-62752E291E83}" type="slidenum">
              <a:rPr lang="en-US" altLang="en-US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10</a:t>
            </a:fld>
            <a:endParaRPr lang="en-US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Picture 7" descr="bd04924_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05253" y="2150340"/>
            <a:ext cx="2841170" cy="383241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2547258"/>
            <a:ext cx="10515600" cy="1214846"/>
          </a:xfrm>
        </p:spPr>
        <p:txBody>
          <a:bodyPr/>
          <a:lstStyle/>
          <a:p>
            <a:pPr marL="0" indent="0" algn="ctr">
              <a:buNone/>
            </a:pPr>
            <a:r>
              <a:rPr lang="en-US" sz="6600" dirty="0">
                <a:solidFill>
                  <a:srgbClr val="A7118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Thank you !!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15EC703-C051-410C-8BA1-62752E291E83}" type="slidenum">
              <a:rPr lang="en-US" altLang="en-US" smtClean="0"/>
              <a:t>11</a:t>
            </a:fld>
            <a:endParaRPr lang="en-US" alt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123</TotalTime>
  <Words>662</Words>
  <Application>Microsoft Office PowerPoint</Application>
  <PresentationFormat>Widescreen</PresentationFormat>
  <Paragraphs>99</Paragraphs>
  <Slides>11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9" baseType="lpstr">
      <vt:lpstr>Arial</vt:lpstr>
      <vt:lpstr>Calibri</vt:lpstr>
      <vt:lpstr>Calibri Light</vt:lpstr>
      <vt:lpstr>Cambria</vt:lpstr>
      <vt:lpstr>Times New Roman</vt:lpstr>
      <vt:lpstr>Verdana</vt:lpstr>
      <vt:lpstr>Wingdings</vt:lpstr>
      <vt:lpstr>Office Theme</vt:lpstr>
      <vt:lpstr>PowerPoint Presentation</vt:lpstr>
      <vt:lpstr>Content</vt:lpstr>
      <vt:lpstr>Overview</vt:lpstr>
      <vt:lpstr>Objectives of the work</vt:lpstr>
      <vt:lpstr>About Company or Organization</vt:lpstr>
      <vt:lpstr>Working domain or the technology</vt:lpstr>
      <vt:lpstr>PowerPoint Presentation</vt:lpstr>
      <vt:lpstr>Challenges Faced in Internship</vt:lpstr>
      <vt:lpstr>Github Link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Gopalakrishnan N-Asst. Prof-CIV</dc:creator>
  <cp:lastModifiedBy>Rohan Blazey</cp:lastModifiedBy>
  <cp:revision>729</cp:revision>
  <dcterms:created xsi:type="dcterms:W3CDTF">2022-10-14T07:18:00Z</dcterms:created>
  <dcterms:modified xsi:type="dcterms:W3CDTF">2026-08-22T06:48:15Z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1033-12.1.0.28032</vt:lpwstr>
  </property>
  <property fmtid="{D5CDD505-2E9C-101B-9397-08002B2CF9AE}" pid="3" name="ICV">
    <vt:lpwstr>98DF46583141491C9AEB5CD823474D13_13</vt:lpwstr>
  </property>
</Properties>
</file>